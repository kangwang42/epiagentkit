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officeDocument/2006/relationships/extended-properties" Target="docProps/app.xml"/>
<Relationship Id="rId2" Type="http://schemas.openxmlformats.org/package/2006/relationships/metadata/core-properties" Target="docProps/core.xml"/>
<Relationship Id="rId1" Type="http://schemas.openxmlformats.org/officeDocument/2006/relationships/officeDocument" Target="ppt/presentation.xml"/>
<Relationship Id="rId4" Type="http://schemas.openxmlformats.org/officeDocument/2006/relationships/custom-properties" Target="docProps/custom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9"/>
    <p:sldId id="257" r:id="rId10"/>
    <p:sldId id="258" r:id="rId11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8">
          <p15:clr>
            <a:srgbClr val="A4A3A4"/>
          </p15:clr>
        </p15:guide>
        <p15:guide id="2" pos="21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E451B"/>
    <a:srgbClr val="2027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680"/>
  </p:normalViewPr>
  <p:slideViewPr>
    <p:cSldViewPr>
      <p:cViewPr varScale="1">
        <p:scale>
          <a:sx n="109" d="100"/>
          <a:sy n="109" d="100"/>
        </p:scale>
        <p:origin x="100" y="132"/>
      </p:cViewPr>
      <p:guideLst>
        <p:guide orient="horz" pos="2898"/>
        <p:guide pos="215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552" y="65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notesMaster" Target="notesMasters/notesMaster1.xml"/>
<Relationship Id="rId7" Type="http://schemas.openxmlformats.org/officeDocument/2006/relationships/theme" Target="theme/theme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handoutMaster" Target="handoutMasters/handoutMaster1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E1CF3-1557-4903-AA7A-069E8B896DA4}" type="datetimeFigureOut">
              <a:rPr lang="zh-CN" altLang="en-US" smtClean="0"/>
              <a:t>2026/06/09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EAE90-66CF-41CD-86CF-AB39C198B2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42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2026/06/09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392557"/>
            <a:ext cx="9144000" cy="487634"/>
          </a:xfrm>
        </p:spPr>
        <p:txBody>
          <a:bodyPr/>
          <a:lstStyle>
            <a:lvl1pPr marL="0" indent="0" algn="ctr">
              <a:buNone/>
              <a:defRPr sz="2400" b="0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ctr">
              <a:lnSpc>
                <a:spcPct val="150000"/>
              </a:lnSpc>
              <a:defRPr/>
            </a:pPr>
            <a:endParaRPr lang="zh-CN" altLang="en-US" sz="2400" b="1" dirty="0">
              <a:solidFill>
                <a:srgbClr val="013718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7E55-CB4D-4E60-A244-EE8B97B13CC8}" type="datetime1">
              <a:rPr lang="en-US" altLang="zh-CN" smtClean="0"/>
              <a:t>6/9/2026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图片包含 看着, 女人, 房间, 食物&#10;&#10;描述已自动生成">
            <a:extLst>
              <a:ext uri="{FF2B5EF4-FFF2-40B4-BE49-F238E27FC236}">
                <a16:creationId xmlns:a16="http://schemas.microsoft.com/office/drawing/2014/main" id="{AEC6F1BE-7146-556B-2146-4DE814AD19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9" b="28461"/>
          <a:stretch>
            <a:fillRect/>
          </a:stretch>
        </p:blipFill>
        <p:spPr>
          <a:xfrm>
            <a:off x="0" y="1066800"/>
            <a:ext cx="12191999" cy="1561195"/>
          </a:xfrm>
          <a:prstGeom prst="rect">
            <a:avLst/>
          </a:prstGeom>
        </p:spPr>
      </p:pic>
      <p:sp>
        <p:nvSpPr>
          <p:cNvPr id="11" name="标题 10">
            <a:extLst>
              <a:ext uri="{FF2B5EF4-FFF2-40B4-BE49-F238E27FC236}">
                <a16:creationId xmlns:a16="http://schemas.microsoft.com/office/drawing/2014/main" id="{04B28109-5E53-8EF4-2C3E-71AF2440B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1500482"/>
            <a:ext cx="5981700" cy="503583"/>
          </a:xfrm>
        </p:spPr>
        <p:txBody>
          <a:bodyPr/>
          <a:lstStyle>
            <a:lvl1pPr>
              <a:defRPr sz="3600"/>
            </a:lvl1pPr>
          </a:lstStyle>
          <a:p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图片包含 游戏机, 画, 食物, 标志&#10;&#10;描述已自动生成">
            <a:extLst>
              <a:ext uri="{FF2B5EF4-FFF2-40B4-BE49-F238E27FC236}">
                <a16:creationId xmlns:a16="http://schemas.microsoft.com/office/drawing/2014/main" id="{A8BE3A8B-B104-743E-CFB1-D788DD981A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77156"/>
            <a:ext cx="2159377" cy="67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48A4A-F9CD-4C01-946A-2CCCC9F443B2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-文字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8504" y="1524000"/>
            <a:ext cx="8507896" cy="276999"/>
          </a:xfrm>
        </p:spPr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+mj-ea"/>
                <a:ea typeface="+mj-ea"/>
                <a:cs typeface="SimSun" panose="02010600030101010101" pitchFamily="2" charset="-122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C3B23-CF71-4261-9781-986BA6C334DD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50D52A8D-3206-62FE-9057-3A7CFA8B922E}"/>
              </a:ext>
            </a:extLst>
          </p:cNvPr>
          <p:cNvSpPr/>
          <p:nvPr userDrawn="1"/>
        </p:nvSpPr>
        <p:spPr>
          <a:xfrm>
            <a:off x="609600" y="436003"/>
            <a:ext cx="76200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表格占位符 8">
            <a:extLst>
              <a:ext uri="{FF2B5EF4-FFF2-40B4-BE49-F238E27FC236}">
                <a16:creationId xmlns:a16="http://schemas.microsoft.com/office/drawing/2014/main" id="{D992B0D3-FC25-9907-B2BB-A8E1D3F9AD0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57600" y="3035201"/>
            <a:ext cx="3352800" cy="91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2F36355-7CBD-80AD-C6A0-571AC5F4D7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514182"/>
            <a:ext cx="3356292" cy="353943"/>
          </a:xfrm>
        </p:spPr>
        <p:txBody>
          <a:bodyPr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8504" y="1524000"/>
            <a:ext cx="9422296" cy="276999"/>
          </a:xfrm>
        </p:spPr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+mj-ea"/>
                <a:ea typeface="+mj-ea"/>
                <a:cs typeface="SimSun" panose="02010600030101010101" pitchFamily="2" charset="-122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C3B23-CF71-4261-9781-986BA6C334DD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50D52A8D-3206-62FE-9057-3A7CFA8B922E}"/>
              </a:ext>
            </a:extLst>
          </p:cNvPr>
          <p:cNvSpPr/>
          <p:nvPr userDrawn="1"/>
        </p:nvSpPr>
        <p:spPr>
          <a:xfrm>
            <a:off x="609600" y="457200"/>
            <a:ext cx="76200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占位符 9">
            <a:extLst>
              <a:ext uri="{FF2B5EF4-FFF2-40B4-BE49-F238E27FC236}">
                <a16:creationId xmlns:a16="http://schemas.microsoft.com/office/drawing/2014/main" id="{DFB1AA2B-F966-E149-998D-20B6A91B92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535379"/>
            <a:ext cx="3356292" cy="353943"/>
          </a:xfrm>
        </p:spPr>
        <p:txBody>
          <a:bodyPr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871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-文字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8504" y="1524000"/>
            <a:ext cx="8507896" cy="276999"/>
          </a:xfrm>
        </p:spPr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+mj-ea"/>
                <a:ea typeface="+mj-ea"/>
                <a:cs typeface="SimSun" panose="02010600030101010101" pitchFamily="2" charset="-122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C3B23-CF71-4261-9781-986BA6C334DD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50D52A8D-3206-62FE-9057-3A7CFA8B922E}"/>
              </a:ext>
            </a:extLst>
          </p:cNvPr>
          <p:cNvSpPr/>
          <p:nvPr userDrawn="1"/>
        </p:nvSpPr>
        <p:spPr>
          <a:xfrm>
            <a:off x="609600" y="457200"/>
            <a:ext cx="76200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表格占位符 8">
            <a:extLst>
              <a:ext uri="{FF2B5EF4-FFF2-40B4-BE49-F238E27FC236}">
                <a16:creationId xmlns:a16="http://schemas.microsoft.com/office/drawing/2014/main" id="{D992B0D3-FC25-9907-B2BB-A8E1D3F9AD0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57600" y="3035201"/>
            <a:ext cx="3352800" cy="91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文本占位符 9">
            <a:extLst>
              <a:ext uri="{FF2B5EF4-FFF2-40B4-BE49-F238E27FC236}">
                <a16:creationId xmlns:a16="http://schemas.microsoft.com/office/drawing/2014/main" id="{A73A0723-FEA8-1F7C-37AC-3C1F48EAFB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8504" y="535379"/>
            <a:ext cx="3356292" cy="353943"/>
          </a:xfrm>
        </p:spPr>
        <p:txBody>
          <a:bodyPr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340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-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C3B23-CF71-4261-9781-986BA6C334DD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50D52A8D-3206-62FE-9057-3A7CFA8B922E}"/>
              </a:ext>
            </a:extLst>
          </p:cNvPr>
          <p:cNvSpPr/>
          <p:nvPr userDrawn="1"/>
        </p:nvSpPr>
        <p:spPr>
          <a:xfrm>
            <a:off x="609600" y="457200"/>
            <a:ext cx="76200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4FF26C8B-DF10-E599-476E-EE4DFF3724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43200" y="1524000"/>
            <a:ext cx="6172200" cy="4419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文本占位符 9">
            <a:extLst>
              <a:ext uri="{FF2B5EF4-FFF2-40B4-BE49-F238E27FC236}">
                <a16:creationId xmlns:a16="http://schemas.microsoft.com/office/drawing/2014/main" id="{04E48E9E-75F5-09E6-BFC2-25B37A6559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675" y="552762"/>
            <a:ext cx="3356292" cy="723275"/>
          </a:xfrm>
        </p:spPr>
        <p:txBody>
          <a:bodyPr/>
          <a:lstStyle/>
          <a:p>
            <a:pPr lvl="0"/>
            <a:r>
              <a:rPr lang="en-US" altLang="zh-CN" sz="2400" b="1" dirty="0">
                <a:solidFill>
                  <a:srgbClr val="115522"/>
                </a:solidFill>
                <a:latin typeface="Times New Roman" panose="02020603050405020304" charset="0"/>
                <a:ea typeface="思源宋体 CN Heavy" panose="02020900000000000000" pitchFamily="18" charset="-122"/>
                <a:cs typeface="Times New Roman" panose="02020603050405020304" charset="0"/>
              </a:rPr>
              <a:t>1.</a:t>
            </a:r>
            <a:r>
              <a:rPr lang="zh-CN" altLang="en-US" sz="2400" b="1" dirty="0">
                <a:solidFill>
                  <a:srgbClr val="115522"/>
                </a:solidFill>
                <a:latin typeface="Times New Roman" panose="02020603050405020304" charset="0"/>
                <a:ea typeface="思源宋体 CN Heavy" panose="02020900000000000000" pitchFamily="18" charset="-122"/>
                <a:cs typeface="Times New Roman" panose="02020603050405020304" charset="0"/>
              </a:rPr>
              <a:t>什么是随机生存森林</a:t>
            </a:r>
            <a:br>
              <a:rPr lang="zh-CN" altLang="en-US" sz="2400" b="1" dirty="0">
                <a:solidFill>
                  <a:srgbClr val="115522"/>
                </a:solidFill>
                <a:latin typeface="Times New Roman" panose="02020603050405020304" charset="0"/>
                <a:ea typeface="思源宋体 CN Heavy" panose="02020900000000000000" pitchFamily="18" charset="-122"/>
                <a:cs typeface="Times New Roman" panose="02020603050405020304" charset="0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37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C3B23-CF71-4261-9781-986BA6C334DD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50D52A8D-3206-62FE-9057-3A7CFA8B922E}"/>
              </a:ext>
            </a:extLst>
          </p:cNvPr>
          <p:cNvSpPr/>
          <p:nvPr userDrawn="1"/>
        </p:nvSpPr>
        <p:spPr>
          <a:xfrm>
            <a:off x="609600" y="457200"/>
            <a:ext cx="76200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4FF26C8B-DF10-E599-476E-EE4DFF3724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47800" y="1676400"/>
            <a:ext cx="3810000" cy="3962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9">
            <a:extLst>
              <a:ext uri="{FF2B5EF4-FFF2-40B4-BE49-F238E27FC236}">
                <a16:creationId xmlns:a16="http://schemas.microsoft.com/office/drawing/2014/main" id="{5F5ED3D4-CC48-F79C-A66F-341F3A9B84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14322" y="1524000"/>
            <a:ext cx="3810000" cy="3962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文本占位符 9">
            <a:extLst>
              <a:ext uri="{FF2B5EF4-FFF2-40B4-BE49-F238E27FC236}">
                <a16:creationId xmlns:a16="http://schemas.microsoft.com/office/drawing/2014/main" id="{2648DEFC-7469-3ADB-4BBB-AC8D4F134D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9110" y="516263"/>
            <a:ext cx="3356292" cy="723275"/>
          </a:xfrm>
        </p:spPr>
        <p:txBody>
          <a:bodyPr/>
          <a:lstStyle/>
          <a:p>
            <a:pPr lvl="0"/>
            <a:r>
              <a:rPr lang="en-US" altLang="zh-CN" sz="2400" b="1" dirty="0">
                <a:solidFill>
                  <a:srgbClr val="115522"/>
                </a:solidFill>
                <a:latin typeface="Times New Roman" panose="02020603050405020304" charset="0"/>
                <a:ea typeface="思源宋体 CN Heavy" panose="02020900000000000000" pitchFamily="18" charset="-122"/>
                <a:cs typeface="Times New Roman" panose="02020603050405020304" charset="0"/>
              </a:rPr>
              <a:t>1.</a:t>
            </a:r>
            <a:r>
              <a:rPr lang="zh-CN" altLang="en-US" sz="2400" b="1" dirty="0">
                <a:solidFill>
                  <a:srgbClr val="115522"/>
                </a:solidFill>
                <a:latin typeface="Times New Roman" panose="02020603050405020304" charset="0"/>
                <a:ea typeface="思源宋体 CN Heavy" panose="02020900000000000000" pitchFamily="18" charset="-122"/>
                <a:cs typeface="Times New Roman" panose="02020603050405020304" charset="0"/>
              </a:rPr>
              <a:t>什么是随机生存森林</a:t>
            </a:r>
            <a:br>
              <a:rPr lang="zh-CN" altLang="en-US" sz="2400" b="1" dirty="0">
                <a:solidFill>
                  <a:srgbClr val="115522"/>
                </a:solidFill>
                <a:latin typeface="Times New Roman" panose="02020603050405020304" charset="0"/>
                <a:ea typeface="思源宋体 CN Heavy" panose="02020900000000000000" pitchFamily="18" charset="-122"/>
                <a:cs typeface="Times New Roman" panose="02020603050405020304" charset="0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664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-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C3B23-CF71-4261-9781-986BA6C334DD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50D52A8D-3206-62FE-9057-3A7CFA8B922E}"/>
              </a:ext>
            </a:extLst>
          </p:cNvPr>
          <p:cNvSpPr/>
          <p:nvPr userDrawn="1"/>
        </p:nvSpPr>
        <p:spPr>
          <a:xfrm>
            <a:off x="609600" y="457200"/>
            <a:ext cx="76200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表格占位符 7">
            <a:extLst>
              <a:ext uri="{FF2B5EF4-FFF2-40B4-BE49-F238E27FC236}">
                <a16:creationId xmlns:a16="http://schemas.microsoft.com/office/drawing/2014/main" id="{C200A63B-AE0E-99AE-5B04-AC6BB2B8753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524000" y="1752600"/>
            <a:ext cx="8686800" cy="3962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文本占位符 9">
            <a:extLst>
              <a:ext uri="{FF2B5EF4-FFF2-40B4-BE49-F238E27FC236}">
                <a16:creationId xmlns:a16="http://schemas.microsoft.com/office/drawing/2014/main" id="{C2415D79-EA24-69E9-0ADB-4472BB6EC8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535379"/>
            <a:ext cx="3356292" cy="369332"/>
          </a:xfrm>
        </p:spPr>
        <p:txBody>
          <a:bodyPr/>
          <a:lstStyle/>
          <a:p>
            <a:pPr lvl="0"/>
            <a:r>
              <a:rPr lang="en-US" altLang="zh-CN" sz="2400" b="1" dirty="0">
                <a:solidFill>
                  <a:srgbClr val="115522"/>
                </a:solidFill>
                <a:latin typeface="Times New Roman" panose="02020603050405020304" charset="0"/>
                <a:ea typeface="思源宋体 CN Heavy" panose="02020900000000000000" pitchFamily="18" charset="-122"/>
                <a:cs typeface="Times New Roman" panose="02020603050405020304" charset="0"/>
              </a:rPr>
              <a:t>1.</a:t>
            </a:r>
            <a:r>
              <a:rPr lang="zh-CN" altLang="en-US" sz="2400" b="1" dirty="0">
                <a:solidFill>
                  <a:srgbClr val="115522"/>
                </a:solidFill>
                <a:latin typeface="Times New Roman" panose="02020603050405020304" charset="0"/>
                <a:ea typeface="思源宋体 CN Heavy" panose="02020900000000000000" pitchFamily="18" charset="-122"/>
                <a:cs typeface="Times New Roman" panose="02020603050405020304" charset="0"/>
              </a:rPr>
              <a:t>什么是随机生存森林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7089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EF800-2DDE-CFCB-EE72-FD8A7271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A33BC5-D00D-B22E-068C-D1B5A4F62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32C989-F66B-C545-3CDB-314A1A4ABD0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D426EFB-8F6A-4F48-8625-F778D4CB8899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EE8C86-264E-3F41-C443-106AA2D6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17833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85F46-8E67-46B8-AD13-08EBD43727A4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24" y="6256020"/>
            <a:ext cx="12188951" cy="1097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96205" y="477205"/>
            <a:ext cx="5999588" cy="1005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1021" y="1224804"/>
            <a:ext cx="6453505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6EFB-8F6A-4F48-8625-F778D4CB8899}" type="datetime1">
              <a:rPr lang="en-US" altLang="zh-CN" smtClean="0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50" r:id="rId3"/>
    <p:sldLayoutId id="2147483657" r:id="rId4"/>
    <p:sldLayoutId id="2147483658" r:id="rId5"/>
    <p:sldLayoutId id="2147483656" r:id="rId6"/>
    <p:sldLayoutId id="2147483660" r:id="rId7"/>
    <p:sldLayoutId id="2147483659" r:id="rId8"/>
    <p:sldLayoutId id="2147483661" r:id="rId9"/>
    <p:sldLayoutId id="2147483653" r:id="rId10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84a1dcb9c2b40407597a9a3bd5d608b0c04fb859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65760" y="1554480"/>
            <a:ext cx="11430000" cy="1280160"/>
          </a:xfrm>
        </p:spPr>
        <p:txBody>
          <a:bodyPr anchor="t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800" i="0" b="1" u="none" strike="noStrike">
                <a:solidFill>
                  <a:srgbClr val="FFFFFF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固定模拟队列的生存分析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365760" y="3657600"/>
            <a:ext cx="11430000" cy="2926080"/>
          </a:xfrm>
        </p:spPr>
        <p:txBody>
          <a:bodyPr anchor="t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1A1A1A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多变量 Cox 回归与调整后生存曲线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A1A1A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/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1A1A1A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中山大学公共卫生学院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1A1A1A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/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05825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演示材料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1A1A1A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/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0" u="none" strike="noStrike">
                <a:solidFill>
                  <a:srgbClr val="666666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模拟数据，不构成医学证据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841248" y="457200"/>
            <a:ext cx="10515600" cy="525689"/>
          </a:xfrm>
        </p:spPr>
        <p:txBody>
          <a:bodyPr anchor="t"/>
          <a:lstStyle/>
          <a:p>
            <a:pPr algn="l" marL="76200" marR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cap="none" sz="2400" i="0" b="1" u="none" strike="noStrike">
                <a:solidFill>
                  <a:srgbClr val="006D5B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强化方案组的调整后无事件生存率持续较高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841248" y="946313"/>
          <a:ext cx="10515600" cy="36576"/>
        </p:xfrm>
        <a:graphic>
          <a:graphicData uri="http://schemas.openxmlformats.org/drawingml/2006/table">
            <a:tbl>
              <a:tblPr/>
              <a:tblGrid>
                <a:gridCol w="10515600"/>
              </a:tblGrid>
              <a:tr h="36576">
                <a:tc>
                  <a:txBody>
                    <a:bodyPr anchor="t"/>
                    <a:lstStyle/>
                    <a:p>
                      <a:pPr algn="l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cap="none" sz="100" i="0" b="0" u="none" strike="noStrike">
                        <a:solidFill>
                          <a:srgbClr val="FFFFFF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" i="0" b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7780">
                      <a:solidFill>
                        <a:srgbClr val="00582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483968" y="1481328"/>
            <a:ext cx="7223760" cy="4429703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026768" y="6002471"/>
            <a:ext cx="8138160" cy="365760"/>
          </a:xfrm>
        </p:spPr>
        <p:txBody>
          <a:bodyPr anchor="t"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1A1A1A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图 1　固定模拟队列中两种治疗方案的调整后无事件生存曲线及 95% 置信区间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11292840" y="6446520"/>
            <a:ext cx="731520" cy="320040"/>
          </a:xfrm>
        </p:spPr>
        <p:txBody>
          <a:bodyPr anchor="t"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666666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841248" y="457200"/>
            <a:ext cx="10515600" cy="525689"/>
          </a:xfrm>
        </p:spPr>
        <p:txBody>
          <a:bodyPr anchor="t"/>
          <a:lstStyle/>
          <a:p>
            <a:pPr algn="l" marL="76200" marR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cap="none" sz="2400" i="0" b="1" u="none" strike="noStrike">
                <a:solidFill>
                  <a:srgbClr val="006D5B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强化方案与较低的无事件风险相关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841248" y="946313"/>
          <a:ext cx="10515600" cy="36576"/>
        </p:xfrm>
        <a:graphic>
          <a:graphicData uri="http://schemas.openxmlformats.org/drawingml/2006/table">
            <a:tbl>
              <a:tblPr/>
              <a:tblGrid>
                <a:gridCol w="10515600"/>
              </a:tblGrid>
              <a:tr h="36576">
                <a:tc>
                  <a:txBody>
                    <a:bodyPr anchor="t"/>
                    <a:lstStyle/>
                    <a:p>
                      <a:pPr algn="l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cap="none" sz="100" i="0" b="0" u="none" strike="noStrike">
                        <a:solidFill>
                          <a:srgbClr val="FFFFFF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00" i="0" b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7780">
                      <a:solidFill>
                        <a:srgbClr val="005825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1843888" y="1897380"/>
          <a:ext cx="3657600" cy="2743200"/>
        </p:xfrm>
        <a:graphic>
          <a:graphicData uri="http://schemas.openxmlformats.org/drawingml/2006/table">
            <a:tbl>
              <a:tblPr/>
              <a:tblGrid>
                <a:gridCol w="4389120"/>
                <a:gridCol w="3017520"/>
                <a:gridCol w="1097280"/>
              </a:tblGrid>
              <a:tr h="457200">
                <a:tc>
                  <a:txBody>
                    <a:bodyPr anchor="t"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模型项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006D5B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风险比（95% 置信区间）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006D5B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P 值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006D5B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强化方案（与常规方案比较）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0.74（0.63～0.87）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&lt;0.001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 anchor="t"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年龄（每增加 10 岁）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EF4F1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1.38（1.28～1.49）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EF4F1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&lt;0.001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EF4F1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男性（与女性比较）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1.29（1.10～1.51）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0.002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 anchor="t"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疾病分期 II（与 I 期比较）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EF4F1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1.42（1.16～1.74）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EF4F1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&lt;0.001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EF4F1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疾病分期 III（与 I 期比较）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2.09（1.67～2.61）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&lt;0.001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 anchor="t"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生物标志物（每增加 1 SD）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F4F1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1.24（1.14～1.35）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F4F1">
                        <a:alpha val="100000"/>
                      </a:srgbClr>
                    </a:solidFill>
                  </a:tcPr>
                </a:tc>
                <a:tc>
                  <a:txBody>
                    <a:bodyPr anchor="t"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/>
                          <a:cs typeface="宋体"/>
                          <a:ea typeface="宋体"/>
                          <a:sym typeface="宋体"/>
                        </a:rPr>
                        <a:t>&lt;0.001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F4F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1843888" y="5234940"/>
            <a:ext cx="8503920" cy="365760"/>
          </a:xfrm>
        </p:spPr>
        <p:txBody>
          <a:bodyPr anchor="t"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666666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数据来源：固定模拟队列的实际 Cox 回归输出；模拟结果仅用于展示可复核的分析与汇报流程。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11292840" y="6446520"/>
            <a:ext cx="731520" cy="320040"/>
          </a:xfrm>
        </p:spPr>
        <p:txBody>
          <a:bodyPr anchor="t"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666666">
                    <a:alpha val="100000"/>
                  </a:srgbClr>
                </a:solidFill>
                <a:latin typeface="Times New Roman"/>
                <a:cs typeface="Times New Roman"/>
                <a:ea typeface="宋体"/>
                <a:sym typeface="宋体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15522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仿宋</vt:lpstr>
      <vt:lpstr>SimSun</vt:lpstr>
      <vt:lpstr>微软雅黑</vt:lpstr>
      <vt:lpstr>Calibri</vt:lpstr>
      <vt:lpstr>Cambria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描述平均水平的指标</dc:title>
  <dc:creator>HP</dc:creator>
  <cp:lastModifiedBy/>
  <cp:revision>247</cp:revision>
  <dcterms:created xsi:type="dcterms:W3CDTF">2021-11-08T11:24:24Z</dcterms:created>
  <dcterms:modified xsi:type="dcterms:W3CDTF">2026-08-04T20:16:08Z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Acrobat PDFMaker 10.1 PowerPoint 版</vt:lpwstr>
  </property>
  <property fmtid="{D5CDD505-2E9C-101B-9397-08002B2CF9AE}" pid="3" name="ICV">
    <vt:lpwstr>FF2BB430853C4DD589440B9E6908D641</vt:lpwstr>
  </property>
  <property fmtid="{D5CDD505-2E9C-101B-9397-08002B2CF9AE}" pid="4" name="KSOProductBuildVer">
    <vt:lpwstr>1033-3.1.6.6275</vt:lpwstr>
  </property>
</Properties>
</file>