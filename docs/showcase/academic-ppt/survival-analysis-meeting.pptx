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60520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7FD1C8"/>
                </a:solidFill>
                <a:latin typeface="Microsoft YaHei"/>
              </a:rPr>
              <a:t>组会汇报｜固定模拟数据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288036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固定模拟队列的
生存分析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154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>
                <a:solidFill>
                  <a:srgbClr val="D9E8F2"/>
                </a:solidFill>
                <a:latin typeface="Microsoft YaHei"/>
              </a:rPr>
              <a:t>从模型口径到可复核图表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053328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D9E8F2"/>
                </a:solidFill>
                <a:latin typeface="Microsoft YaHei"/>
              </a:rPr>
              <a:t>模拟结果不构成医学证据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234440"/>
            <a:ext cx="594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F766E"/>
                </a:solidFill>
                <a:latin typeface="Georg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21615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607084"/>
                </a:solidFill>
                <a:latin typeface="Microsoft YaHei"/>
              </a:rPr>
              <a:t>研究对象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60" y="1572768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172033"/>
                </a:solidFill>
                <a:latin typeface="Microsoft YaHei"/>
              </a:rPr>
              <a:t>1,200 人固定模拟队列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651760"/>
            <a:ext cx="594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F766E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63347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607084"/>
                </a:solidFill>
                <a:latin typeface="Microsoft YaHei"/>
              </a:rPr>
              <a:t>随访窗口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990088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172033"/>
                </a:solidFill>
                <a:latin typeface="Microsoft YaHei"/>
              </a:rPr>
              <a:t>36 个月行政随访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069080"/>
            <a:ext cx="594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F766E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4050792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607084"/>
                </a:solidFill>
                <a:latin typeface="Microsoft YaHei"/>
              </a:rPr>
              <a:t>主要分析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4407408"/>
            <a:ext cx="4663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900" b="1">
                <a:solidFill>
                  <a:srgbClr val="172033"/>
                </a:solidFill>
                <a:latin typeface="Microsoft YaHei"/>
              </a:rPr>
              <a:t>多变量 Cox 回归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73152" cy="69494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3891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0F766E"/>
                </a:solidFill>
                <a:latin typeface="Microsoft YaHei"/>
              </a:rPr>
              <a:t>研究设计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固定模拟队列支持可复核的时间到事件分析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607084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2763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>
                <a:solidFill>
                  <a:srgbClr val="607084"/>
                </a:solidFill>
                <a:latin typeface="Microsoft YaHei"/>
              </a:rPr>
              <a:t>研究对象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788920"/>
            <a:ext cx="4754880" cy="0"/>
          </a:xfrm>
          <a:prstGeom prst="line">
            <a:avLst/>
          </a:prstGeom>
          <a:ln w="27940">
            <a:solidFill>
              <a:srgbClr val="0F766E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813816" y="268833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3090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0 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447288"/>
            <a:ext cx="877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风险集 1,200</a:t>
            </a:r>
          </a:p>
        </p:txBody>
      </p:sp>
      <p:sp>
        <p:nvSpPr>
          <p:cNvPr id="11" name="Oval 10"/>
          <p:cNvSpPr/>
          <p:nvPr/>
        </p:nvSpPr>
        <p:spPr>
          <a:xfrm>
            <a:off x="2386584" y="268833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67128" y="3090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12 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48256" y="3447288"/>
            <a:ext cx="877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风险集 907</a:t>
            </a:r>
          </a:p>
        </p:txBody>
      </p:sp>
      <p:sp>
        <p:nvSpPr>
          <p:cNvPr id="14" name="Oval 13"/>
          <p:cNvSpPr/>
          <p:nvPr/>
        </p:nvSpPr>
        <p:spPr>
          <a:xfrm>
            <a:off x="3959352" y="268833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9896" y="3090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24 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4" y="3447288"/>
            <a:ext cx="877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风险集 714</a:t>
            </a:r>
          </a:p>
        </p:txBody>
      </p:sp>
      <p:sp>
        <p:nvSpPr>
          <p:cNvPr id="17" name="Oval 16"/>
          <p:cNvSpPr/>
          <p:nvPr/>
        </p:nvSpPr>
        <p:spPr>
          <a:xfrm>
            <a:off x="5522976" y="2688336"/>
            <a:ext cx="201168" cy="2011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3090672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172033"/>
                </a:solidFill>
                <a:latin typeface="Microsoft YaHei"/>
              </a:rPr>
              <a:t>36 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84648" y="3447288"/>
            <a:ext cx="877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>
                <a:solidFill>
                  <a:srgbClr val="172033"/>
                </a:solidFill>
                <a:latin typeface="Microsoft YaHei"/>
              </a:rPr>
              <a:t>风险集 570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1572768"/>
            <a:ext cx="4736592" cy="4279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1901952"/>
            <a:ext cx="39776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Microsoft YaHei"/>
              </a:rPr>
              <a:t>分析对象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300">
                <a:solidFill>
                  <a:srgbClr val="172033"/>
                </a:solidFill>
                <a:latin typeface="Microsoft YaHei"/>
              </a:rPr>
              <a:t>固定随机种子生成 1,200 名模拟对象；630 个结局事件。</a:t>
            </a:r>
          </a:p>
          <a:p>
            <a:pPr>
              <a:spcBef>
                <a:spcPts val="90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Microsoft YaHei"/>
              </a:rPr>
              <a:t>主要模型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300">
                <a:solidFill>
                  <a:srgbClr val="172033"/>
                </a:solidFill>
                <a:latin typeface="Microsoft YaHei"/>
              </a:rPr>
              <a:t>治疗方案、年龄、性别、疾病分期与生物标志物共同进入 Cox 回归。</a:t>
            </a:r>
          </a:p>
          <a:p>
            <a:pPr>
              <a:spcBef>
                <a:spcPts val="900"/>
              </a:spcBef>
              <a:spcAft>
                <a:spcPts val="300"/>
              </a:spcAft>
            </a:pPr>
            <a:r>
              <a:rPr sz="1400" b="1">
                <a:solidFill>
                  <a:srgbClr val="0F766E"/>
                </a:solidFill>
                <a:latin typeface="Microsoft YaHei"/>
              </a:rPr>
              <a:t>输出合同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300">
                <a:solidFill>
                  <a:srgbClr val="172033"/>
                </a:solidFill>
                <a:latin typeface="Microsoft YaHei"/>
              </a:rPr>
              <a:t>调整后曲线、95% 置信区间、风险集和全部模型项来自同一次实跑。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73152" cy="69494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3891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0F766E"/>
                </a:solidFill>
                <a:latin typeface="Microsoft YaHei"/>
              </a:rPr>
              <a:t>主要结果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强化方案组的调整后无事件生存率持续较高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607084"/>
                </a:solidFill>
                <a:latin typeface="Arial"/>
              </a:rPr>
              <a:t>2</a:t>
            </a:r>
          </a:p>
        </p:txBody>
      </p:sp>
      <p:pic>
        <p:nvPicPr>
          <p:cNvPr id="6" name="Picture 5" descr="adjusted-survival-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68" y="1298448"/>
            <a:ext cx="7680960" cy="47100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65960" y="614476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0">
                <a:solidFill>
                  <a:srgbClr val="607084"/>
                </a:solidFill>
                <a:latin typeface="Microsoft YaHei"/>
              </a:rPr>
              <a:t>图 1　两种治疗方案的调整后无事件生存曲线及 95% 置信区间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73152" cy="69494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3891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0F766E"/>
                </a:solidFill>
                <a:latin typeface="Microsoft YaHei"/>
              </a:rPr>
              <a:t>模型结果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多变量模型支持一致的效应方向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607084"/>
                </a:solidFill>
                <a:latin typeface="Arial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00200"/>
          <a:ext cx="9601200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383280"/>
                <a:gridCol w="1188720"/>
              </a:tblGrid>
              <a:tr h="530352">
                <a:tc>
                  <a:txBody>
                    <a:bodyPr anchor="ctr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模型项</a:t>
                      </a:r>
                    </a:p>
                  </a:txBody>
                  <a:tcPr marL="91440" marR="91440" marT="54864" marB="54864">
                    <a:solidFill>
                      <a:srgbClr val="102A4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风险比（95% 置信区间）</a:t>
                      </a:r>
                    </a:p>
                  </a:txBody>
                  <a:tcPr marL="91440" marR="91440" marT="54864" marB="54864">
                    <a:solidFill>
                      <a:srgbClr val="102A4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Microsoft YaHei"/>
                        </a:rPr>
                        <a:t>P 值</a:t>
                      </a:r>
                    </a:p>
                  </a:txBody>
                  <a:tcPr marL="91440" marR="91440" marT="54864" marB="54864">
                    <a:solidFill>
                      <a:srgbClr val="102A43"/>
                    </a:solidFill>
                  </a:tcPr>
                </a:tc>
              </a:tr>
              <a:tr h="530352">
                <a:tc>
                  <a:txBody>
                    <a:bodyPr anchor="ctr"/>
                    <a:lstStyle/>
                    <a:p>
                      <a:pPr algn="l"/>
                      <a:r>
                        <a:rPr sz="1250" b="0">
                          <a:solidFill>
                            <a:srgbClr val="172033"/>
                          </a:solidFill>
                          <a:latin typeface="Microsoft YaHei"/>
                        </a:rPr>
                        <a:t>强化方案（与常规方案比较）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72033"/>
                          </a:solidFill>
                          <a:latin typeface="Microsoft YaHei"/>
                        </a:rPr>
                        <a:t>0.74（0.63～0.87）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72033"/>
                          </a:solidFill>
                          <a:latin typeface="Microsoft YaHei"/>
                        </a:rPr>
                        <a:t>&lt;0.001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anchor="ctr"/>
                    <a:lstStyle/>
                    <a:p>
                      <a:pPr algn="l"/>
                      <a:r>
                        <a:rPr sz="1250" b="0">
                          <a:solidFill>
                            <a:srgbClr val="172033"/>
                          </a:solidFill>
                          <a:latin typeface="Microsoft YaHei"/>
                        </a:rPr>
                        <a:t>年龄（每增加 10 岁）</a:t>
                      </a:r>
                    </a:p>
                  </a:txBody>
                  <a:tcPr marL="91440" marR="91440" marT="54864" marB="54864">
                    <a:solidFill>
                      <a:srgbClr val="EDF3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72033"/>
                          </a:solidFill>
                          <a:latin typeface="Microsoft YaHei"/>
                        </a:rPr>
                        <a:t>1.38（1.28～1.49）</a:t>
                      </a:r>
                    </a:p>
                  </a:txBody>
                  <a:tcPr marL="91440" marR="91440" marT="54864" marB="54864">
                    <a:solidFill>
                      <a:srgbClr val="EDF3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72033"/>
                          </a:solidFill>
                          <a:latin typeface="Microsoft YaHei"/>
                        </a:rPr>
                        <a:t>&lt;0.001</a:t>
                      </a:r>
                    </a:p>
                  </a:txBody>
                  <a:tcPr marL="91440" marR="91440" marT="54864" marB="54864">
                    <a:solidFill>
                      <a:srgbClr val="EDF3F7"/>
                    </a:solidFill>
                  </a:tcPr>
                </a:tc>
              </a:tr>
              <a:tr h="530352">
                <a:tc>
                  <a:txBody>
                    <a:bodyPr anchor="ctr"/>
                    <a:lstStyle/>
                    <a:p>
                      <a:pPr algn="l"/>
                      <a:r>
                        <a:rPr sz="1250" b="0">
                          <a:solidFill>
                            <a:srgbClr val="172033"/>
                          </a:solidFill>
                          <a:latin typeface="Microsoft YaHei"/>
                        </a:rPr>
                        <a:t>男性（与女性比较）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72033"/>
                          </a:solidFill>
                          <a:latin typeface="Microsoft YaHei"/>
                        </a:rPr>
                        <a:t>1.29（1.10～1.51）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72033"/>
                          </a:solidFill>
                          <a:latin typeface="Microsoft YaHei"/>
                        </a:rPr>
                        <a:t>0.002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anchor="ctr"/>
                    <a:lstStyle/>
                    <a:p>
                      <a:pPr algn="l"/>
                      <a:r>
                        <a:rPr sz="1250" b="0">
                          <a:solidFill>
                            <a:srgbClr val="172033"/>
                          </a:solidFill>
                          <a:latin typeface="Microsoft YaHei"/>
                        </a:rPr>
                        <a:t>疾病分期 II（与 I 期比较）</a:t>
                      </a:r>
                    </a:p>
                  </a:txBody>
                  <a:tcPr marL="91440" marR="91440" marT="54864" marB="54864">
                    <a:solidFill>
                      <a:srgbClr val="EDF3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72033"/>
                          </a:solidFill>
                          <a:latin typeface="Microsoft YaHei"/>
                        </a:rPr>
                        <a:t>1.42（1.16～1.74）</a:t>
                      </a:r>
                    </a:p>
                  </a:txBody>
                  <a:tcPr marL="91440" marR="91440" marT="54864" marB="54864">
                    <a:solidFill>
                      <a:srgbClr val="EDF3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72033"/>
                          </a:solidFill>
                          <a:latin typeface="Microsoft YaHei"/>
                        </a:rPr>
                        <a:t>&lt;0.001</a:t>
                      </a:r>
                    </a:p>
                  </a:txBody>
                  <a:tcPr marL="91440" marR="91440" marT="54864" marB="54864">
                    <a:solidFill>
                      <a:srgbClr val="EDF3F7"/>
                    </a:solidFill>
                  </a:tcPr>
                </a:tc>
              </a:tr>
              <a:tr h="530352">
                <a:tc>
                  <a:txBody>
                    <a:bodyPr anchor="ctr"/>
                    <a:lstStyle/>
                    <a:p>
                      <a:pPr algn="l"/>
                      <a:r>
                        <a:rPr sz="1250" b="0">
                          <a:solidFill>
                            <a:srgbClr val="172033"/>
                          </a:solidFill>
                          <a:latin typeface="Microsoft YaHei"/>
                        </a:rPr>
                        <a:t>疾病分期 III（与 I 期比较）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72033"/>
                          </a:solidFill>
                          <a:latin typeface="Microsoft YaHei"/>
                        </a:rPr>
                        <a:t>2.09（1.67～2.61）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72033"/>
                          </a:solidFill>
                          <a:latin typeface="Microsoft YaHei"/>
                        </a:rPr>
                        <a:t>&lt;0.001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anchor="ctr"/>
                    <a:lstStyle/>
                    <a:p>
                      <a:pPr algn="l"/>
                      <a:r>
                        <a:rPr sz="1250" b="0">
                          <a:solidFill>
                            <a:srgbClr val="172033"/>
                          </a:solidFill>
                          <a:latin typeface="Microsoft YaHei"/>
                        </a:rPr>
                        <a:t>生物标志物（每增加 1 SD）</a:t>
                      </a:r>
                    </a:p>
                  </a:txBody>
                  <a:tcPr marL="91440" marR="91440" marT="54864" marB="54864">
                    <a:solidFill>
                      <a:srgbClr val="EDF3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72033"/>
                          </a:solidFill>
                          <a:latin typeface="Microsoft YaHei"/>
                        </a:rPr>
                        <a:t>1.24（1.14～1.35）</a:t>
                      </a:r>
                    </a:p>
                  </a:txBody>
                  <a:tcPr marL="91440" marR="91440" marT="54864" marB="54864">
                    <a:solidFill>
                      <a:srgbClr val="EDF3F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50" b="0">
                          <a:solidFill>
                            <a:srgbClr val="172033"/>
                          </a:solidFill>
                          <a:latin typeface="Microsoft YaHei"/>
                        </a:rPr>
                        <a:t>&lt;0.001</a:t>
                      </a:r>
                    </a:p>
                  </a:txBody>
                  <a:tcPr marL="91440" marR="91440" marT="54864" marB="54864">
                    <a:solidFill>
                      <a:srgbClr val="EDF3F7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914400" y="5312663"/>
            <a:ext cx="9601200" cy="0"/>
          </a:xfrm>
          <a:prstGeom prst="line">
            <a:avLst/>
          </a:prstGeom>
          <a:ln w="1270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5715000"/>
            <a:ext cx="9601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1">
                <a:solidFill>
                  <a:srgbClr val="0F766E"/>
                </a:solidFill>
                <a:latin typeface="Microsoft YaHei"/>
              </a:rPr>
              <a:t>强化方案与较低的无事件风险相关：HR 0.74（0.63～0.87）。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73152" cy="69494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3891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0F766E"/>
                </a:solidFill>
                <a:latin typeface="Microsoft YaHei"/>
              </a:rPr>
              <a:t>解释边界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模型解释受模拟设计与比例风险假设限制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607084"/>
                </a:solidFill>
                <a:latin typeface="Arial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554480"/>
            <a:ext cx="4617720" cy="4434840"/>
          </a:xfrm>
          <a:prstGeom prst="roundRect">
            <a:avLst>
              <a:gd name="adj" fmla="val 8000"/>
            </a:avLst>
          </a:prstGeom>
          <a:solidFill>
            <a:srgbClr val="E5F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19385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F766E"/>
                </a:solidFill>
                <a:latin typeface="Microsoft YaHei"/>
              </a:rPr>
              <a:t>可支持的解释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542032"/>
            <a:ext cx="37947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172033"/>
                </a:solidFill>
                <a:latin typeface="Microsoft YaHei"/>
              </a:rPr>
              <a:t>在预设模拟机制和已纳入协变量下，
强化方案组的调整后风险较低，
曲线方向与模型估计一致。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4956048"/>
            <a:ext cx="3794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0F766E"/>
                </a:solidFill>
                <a:latin typeface="Arial"/>
              </a:rPr>
              <a:t>HR 0.74（95% CI 0.63～0.87）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755648"/>
            <a:ext cx="4892040" cy="39776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Microsoft YaHei"/>
              </a:rPr>
              <a:t>模拟边界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350">
                <a:solidFill>
                  <a:srgbClr val="172033"/>
                </a:solidFill>
                <a:latin typeface="Microsoft YaHei"/>
              </a:rPr>
              <a:t>固定生成机制不能代表真实人群、治疗选择或未测量混杂。</a:t>
            </a:r>
          </a:p>
          <a:p>
            <a:pPr>
              <a:spcBef>
                <a:spcPts val="1100"/>
              </a:spcBef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Microsoft YaHei"/>
              </a:rPr>
              <a:t>模型边界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350">
                <a:solidFill>
                  <a:srgbClr val="172033"/>
                </a:solidFill>
                <a:latin typeface="Microsoft YaHei"/>
              </a:rPr>
              <a:t>解释依赖比例风险假设、函数形式和协变量测量质量。</a:t>
            </a:r>
          </a:p>
          <a:p>
            <a:pPr>
              <a:spcBef>
                <a:spcPts val="1100"/>
              </a:spcBef>
              <a:spcAft>
                <a:spcPts val="300"/>
              </a:spcAft>
            </a:pPr>
            <a:r>
              <a:rPr sz="1500" b="1">
                <a:solidFill>
                  <a:srgbClr val="102A43"/>
                </a:solidFill>
                <a:latin typeface="Microsoft YaHei"/>
              </a:rPr>
              <a:t>外部边界</a:t>
            </a:r>
          </a:p>
          <a:p>
            <a:pPr>
              <a:lnSpc>
                <a:spcPct val="116000"/>
              </a:lnSpc>
              <a:spcAft>
                <a:spcPts val="0"/>
              </a:spcAft>
            </a:pPr>
            <a:r>
              <a:rPr sz="1350">
                <a:solidFill>
                  <a:srgbClr val="172033"/>
                </a:solidFill>
                <a:latin typeface="Microsoft YaHei"/>
              </a:rPr>
              <a:t>没有外部队列、真实临床结局或实际决策阈值，不能据此形成医学建议。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75488"/>
            <a:ext cx="73152" cy="69494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86384" y="438912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>
                <a:solidFill>
                  <a:srgbClr val="0F766E"/>
                </a:solidFill>
                <a:latin typeface="Microsoft YaHei"/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72033"/>
                </a:solidFill>
                <a:latin typeface="Microsoft YaHei"/>
              </a:rPr>
              <a:t>后续检查聚焦模型假设与外部适用性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19088"/>
            <a:ext cx="365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607084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0F766E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002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02A43"/>
                </a:solidFill>
                <a:latin typeface="Microsoft YaHei"/>
              </a:rPr>
              <a:t>模型诊断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600200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172033"/>
                </a:solidFill>
                <a:latin typeface="Microsoft YaHei"/>
              </a:rPr>
              <a:t>核对 Schoenfeld 残差、函数形式和高影响观测。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828800" y="2313432"/>
            <a:ext cx="8595360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304495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0F766E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44952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02A43"/>
                </a:solidFill>
                <a:latin typeface="Microsoft YaHei"/>
              </a:rPr>
              <a:t>稳健性分析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044952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172033"/>
                </a:solidFill>
                <a:latin typeface="Microsoft YaHei"/>
              </a:rPr>
              <a:t>比较替代调整集、分层模型和关键参数敏感性。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28800" y="3758184"/>
            <a:ext cx="8595360" cy="0"/>
          </a:xfrm>
          <a:prstGeom prst="line">
            <a:avLst/>
          </a:prstGeom>
          <a:ln w="10160">
            <a:solidFill>
              <a:srgbClr val="D9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448970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 b="1">
                <a:solidFill>
                  <a:srgbClr val="0F766E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48970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102A43"/>
                </a:solidFill>
                <a:latin typeface="Microsoft YaHei"/>
              </a:rPr>
              <a:t>外部验证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489704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172033"/>
                </a:solidFill>
                <a:latin typeface="Microsoft YaHei"/>
              </a:rPr>
              <a:t>在授权真实队列中重新估计性能与适用边界。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