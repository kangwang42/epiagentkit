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4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229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C6A2E"/>
                </a:solidFill>
                <a:latin typeface="SimSun"/>
              </a:rPr>
              <a:t>开题答辩｜方法学模拟研究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70408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421725"/>
                </a:solidFill>
                <a:latin typeface="SimSun"/>
              </a:rPr>
              <a:t>逆概率失访加权的
稳健性评估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5F5558"/>
                </a:solidFill>
                <a:latin typeface="SimSun"/>
              </a:rPr>
              <a:t>预设模拟研究方案，不包含实证结果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1627632"/>
            <a:ext cx="2011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900" b="1">
                <a:solidFill>
                  <a:srgbClr val="FFFDFC"/>
                </a:solidFill>
                <a:latin typeface="SimSun"/>
              </a:rPr>
              <a:t>研究问题
方法比较
质量控制
研究计划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0533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F5558"/>
                </a:solidFill>
                <a:latin typeface="SimSun"/>
              </a:rPr>
              <a:t>固定模拟研究方案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答辩导航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汇报结构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9C6A2E"/>
                </a:solidFill>
                <a:latin typeface="SimSun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08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421725"/>
                </a:solidFill>
                <a:latin typeface="SimSun"/>
              </a:rPr>
              <a:t>研究问题与目标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2704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问题、目标与估计对象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9C6A2E"/>
                </a:solidFill>
                <a:latin typeface="SimSun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0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421725"/>
                </a:solidFill>
                <a:latin typeface="SimSun"/>
              </a:rPr>
              <a:t>模拟设计与比较方法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7860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数据生成、失访机制与分析策略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7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9C6A2E"/>
                </a:solidFill>
                <a:latin typeface="SimSun"/>
              </a:rPr>
              <a:t>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118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421725"/>
                </a:solidFill>
                <a:latin typeface="SimSun"/>
              </a:rPr>
              <a:t>评价指标与质量控制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301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偏倚、精度、覆盖率与异常处理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9C6A2E"/>
                </a:solidFill>
                <a:latin typeface="SimSun"/>
              </a:rPr>
              <a:t>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63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421725"/>
                </a:solidFill>
                <a:latin typeface="SimSun"/>
              </a:rPr>
              <a:t>研究计划与预期产出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81727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时间安排、复现材料与适用边界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一　研究问题与目标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失访机制可能改变纵向结局估计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92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F263D"/>
                </a:solidFill>
                <a:latin typeface="SimSun"/>
              </a:rPr>
              <a:t>研究问题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>
                <a:solidFill>
                  <a:srgbClr val="2D2527"/>
                </a:solidFill>
                <a:latin typeface="SimSun"/>
              </a:rPr>
              <a:t>当失访同时依赖既往暴露、协变量和结局历史时，
完整病例分析可能产生系统偏差。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6F263D"/>
                </a:solidFill>
                <a:latin typeface="SimSun"/>
              </a:rPr>
              <a:t>目标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>
                <a:solidFill>
                  <a:srgbClr val="2D2527"/>
                </a:solidFill>
                <a:latin typeface="SimSun"/>
              </a:rPr>
              <a:t>比较完整病例、逆概率失访加权和多重插补在
不同数据生成条件下的性能。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6F263D"/>
                </a:solidFill>
                <a:latin typeface="SimSun"/>
              </a:rPr>
              <a:t>估计目标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>
                <a:solidFill>
                  <a:srgbClr val="2D2527"/>
                </a:solidFill>
                <a:latin typeface="SimSun"/>
              </a:rPr>
              <a:t>关注总体平均结局差异，并评价点估计、标准误和
95% 置信区间。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1907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19072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421725"/>
                </a:solidFill>
                <a:latin typeface="SimSun"/>
              </a:rPr>
              <a:t>既往协变量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71907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719072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421725"/>
                </a:solidFill>
                <a:latin typeface="SimSun"/>
              </a:rPr>
              <a:t>结局历史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154680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5468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421725"/>
                </a:solidFill>
                <a:latin typeface="SimSun"/>
              </a:rPr>
              <a:t>失访概率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590288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59028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421725"/>
                </a:solidFill>
                <a:latin typeface="SimSun"/>
              </a:rPr>
              <a:t>观察到的结局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2395728"/>
            <a:ext cx="731519" cy="740664"/>
          </a:xfrm>
          <a:prstGeom prst="line">
            <a:avLst/>
          </a:prstGeom>
          <a:ln w="20320">
            <a:solidFill>
              <a:srgbClr val="9C6A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098280" y="2395728"/>
            <a:ext cx="640080" cy="740664"/>
          </a:xfrm>
          <a:prstGeom prst="line">
            <a:avLst/>
          </a:prstGeom>
          <a:ln w="20320">
            <a:solidFill>
              <a:srgbClr val="9C6A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3822191"/>
            <a:ext cx="0" cy="749809"/>
          </a:xfrm>
          <a:prstGeom prst="line">
            <a:avLst/>
          </a:prstGeom>
          <a:ln w="22860">
            <a:solidFill>
              <a:srgbClr val="6F26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二　模拟设计与比较方法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三类分析策略形成可解释的公平比较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27632"/>
          <a:ext cx="96926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657600"/>
                <a:gridCol w="3977639"/>
              </a:tblGrid>
              <a:tr h="86868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imSun"/>
                        </a:rPr>
                        <a:t>方法</a:t>
                      </a:r>
                    </a:p>
                  </a:txBody>
                  <a:tcPr marL="91440" marR="91440" marT="54864" marB="54864">
                    <a:solidFill>
                      <a:srgbClr val="6F26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imSun"/>
                        </a:rPr>
                        <a:t>核心处理</a:t>
                      </a:r>
                    </a:p>
                  </a:txBody>
                  <a:tcPr marL="91440" marR="91440" marT="54864" marB="54864">
                    <a:solidFill>
                      <a:srgbClr val="6F26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imSun"/>
                        </a:rPr>
                        <a:t>主要风险</a:t>
                      </a:r>
                    </a:p>
                  </a:txBody>
                  <a:tcPr marL="91440" marR="91440" marT="54864" marB="54864">
                    <a:solidFill>
                      <a:srgbClr val="6F263D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完整病例分析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仅分析结局完整者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失访依赖结局历史时可能偏倚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逆概率失访加权</a:t>
                      </a:r>
                    </a:p>
                  </a:txBody>
                  <a:tcPr marL="91440" marR="91440" marT="54864" marB="54864">
                    <a:solidFill>
                      <a:srgbClr val="F0E7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按持续被观察概率的倒数加权</a:t>
                      </a:r>
                    </a:p>
                  </a:txBody>
                  <a:tcPr marL="91440" marR="91440" marT="54864" marB="54864">
                    <a:solidFill>
                      <a:srgbClr val="F0E7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权重模型失配或极端权重</a:t>
                      </a:r>
                    </a:p>
                  </a:txBody>
                  <a:tcPr marL="91440" marR="91440" marT="54864" marB="54864">
                    <a:solidFill>
                      <a:srgbClr val="F0E7DE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多重插补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根据观察历史生成缺失结局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2D2527"/>
                          </a:solidFill>
                          <a:latin typeface="SimSun"/>
                        </a:rPr>
                        <a:t>插补模型与相容性假设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68680" y="5102352"/>
            <a:ext cx="9692639" cy="0"/>
          </a:xfrm>
          <a:prstGeom prst="line">
            <a:avLst/>
          </a:prstGeom>
          <a:ln w="1270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440680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6F263D"/>
                </a:solidFill>
                <a:latin typeface="SimSun"/>
              </a:rPr>
              <a:t>所有方法使用相同模拟数据、估计目标、重复次数和评价指标。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二　模拟设计与比较方法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六个数据生成因素构成预设实验网格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样本量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500 / 1,000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450591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5040" y="15087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508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失访比例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10% / 30%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2450591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2926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26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失访机制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3756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依赖协变量 / 依赖结局历史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867912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5040" y="2926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926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效应强度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3756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较小 / 较大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3867912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34340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43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模型设定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5488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正确 / 遗漏非线性项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54480" y="5285232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5040" y="434340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C6A2E"/>
                </a:solidFill>
                <a:latin typeface="Georg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43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权重截尾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75488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D2527"/>
                </a:solidFill>
                <a:latin typeface="SimSun"/>
              </a:rPr>
              <a:t>无 / 1%–99% / 5%–95%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0840" y="5285232"/>
            <a:ext cx="3840480" cy="0"/>
          </a:xfrm>
          <a:prstGeom prst="line">
            <a:avLst/>
          </a:prstGeom>
          <a:ln w="10160">
            <a:solidFill>
              <a:srgbClr val="D9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三　评价指标与质量控制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性能评价同时覆盖偏倚、精度和区间覆盖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偏倚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04288"/>
            <a:ext cx="2880360" cy="129844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304288"/>
            <a:ext cx="26060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421725"/>
                </a:solidFill>
                <a:latin typeface="Cambria Math"/>
              </a:rPr>
              <a:t>E(估计值) − 真值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0507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判断系统偏离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276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均方根误差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04288"/>
            <a:ext cx="2880360" cy="129844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04288"/>
            <a:ext cx="26060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421725"/>
                </a:solidFill>
                <a:latin typeface="Cambria Math"/>
              </a:rPr>
              <a:t>√E[(估计值 − 真值)²]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0507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综合偏倚与变异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6276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95% 覆盖率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304288"/>
            <a:ext cx="2880360" cy="1298448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304288"/>
            <a:ext cx="26060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421725"/>
                </a:solidFill>
                <a:latin typeface="Cambria Math"/>
              </a:rPr>
              <a:t>P(区间包含真值)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00507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5F5558"/>
                </a:solidFill>
                <a:latin typeface="SimSun"/>
              </a:rPr>
              <a:t>检查区间推断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D2527"/>
                </a:solidFill>
                <a:latin typeface="SimSun"/>
              </a:rPr>
              <a:t>每个情景使用相同重复次数和随机数管理；蒙特卡洛误差随主要指标一并报告。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三　评价指标与质量控制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预设质量控制用于隔离极端权重与模型失配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67712"/>
            <a:ext cx="1764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6F263D"/>
                </a:solidFill>
                <a:latin typeface="SimSun"/>
              </a:rPr>
              <a:t>生成数据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43200"/>
            <a:ext cx="1728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5558"/>
                </a:solidFill>
                <a:latin typeface="SimSun"/>
              </a:rPr>
              <a:t>保存真值与随机种子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697480"/>
            <a:ext cx="438912" cy="0"/>
          </a:xfrm>
          <a:prstGeom prst="line">
            <a:avLst/>
          </a:prstGeom>
          <a:ln w="21590">
            <a:solidFill>
              <a:srgbClr val="9C6A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201168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267712"/>
            <a:ext cx="1764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6F263D"/>
                </a:solidFill>
                <a:latin typeface="SimSun"/>
              </a:rPr>
              <a:t>拟合模型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743200"/>
            <a:ext cx="1728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5558"/>
                </a:solidFill>
                <a:latin typeface="SimSun"/>
              </a:rPr>
              <a:t>记录收敛和警告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697480"/>
            <a:ext cx="438912" cy="0"/>
          </a:xfrm>
          <a:prstGeom prst="line">
            <a:avLst/>
          </a:prstGeom>
          <a:ln w="21590">
            <a:solidFill>
              <a:srgbClr val="9C6A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89320" y="201168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2267712"/>
            <a:ext cx="1764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6F263D"/>
                </a:solidFill>
                <a:latin typeface="SimSun"/>
              </a:rPr>
              <a:t>检查权重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743200"/>
            <a:ext cx="1728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5558"/>
                </a:solidFill>
                <a:latin typeface="SimSun"/>
              </a:rPr>
              <a:t>分布、极值与有效样本量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2440" y="2697480"/>
            <a:ext cx="438912" cy="0"/>
          </a:xfrm>
          <a:prstGeom prst="line">
            <a:avLst/>
          </a:prstGeom>
          <a:ln w="21590">
            <a:solidFill>
              <a:srgbClr val="9C6A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201168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160">
            <a:solidFill>
              <a:srgbClr val="E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4" y="2267712"/>
            <a:ext cx="1764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6F263D"/>
                </a:solidFill>
                <a:latin typeface="SimSun"/>
              </a:rPr>
              <a:t>汇总性能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743200"/>
            <a:ext cx="1728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5558"/>
                </a:solidFill>
                <a:latin typeface="SimSun"/>
              </a:rPr>
              <a:t>偏倚、RMSE 与覆盖率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51960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421725"/>
                </a:solidFill>
                <a:latin typeface="SimSun"/>
              </a:rPr>
              <a:t>任何收敛失败、空结果或异常权重都进入情景级诊断，不静默删除后继续汇总。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四　研究计划与预期产出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研究计划以可复现模拟和敏感性分析为主线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743200"/>
            <a:ext cx="9235440" cy="0"/>
          </a:xfrm>
          <a:prstGeom prst="line">
            <a:avLst/>
          </a:prstGeom>
          <a:ln w="25400">
            <a:solidFill>
              <a:srgbClr val="9C6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96112" y="2633472"/>
            <a:ext cx="219456" cy="219456"/>
          </a:xfrm>
          <a:prstGeom prst="ellipse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27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9C6A2E"/>
                </a:solidFill>
                <a:latin typeface="SimSun"/>
              </a:rPr>
              <a:t>阶段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20116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方案与代码原型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2724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F5558"/>
                </a:solidFill>
                <a:latin typeface="SimSun"/>
              </a:rPr>
              <a:t>第 1–2 月</a:t>
            </a:r>
          </a:p>
        </p:txBody>
      </p:sp>
      <p:sp>
        <p:nvSpPr>
          <p:cNvPr id="11" name="Oval 10"/>
          <p:cNvSpPr/>
          <p:nvPr/>
        </p:nvSpPr>
        <p:spPr>
          <a:xfrm>
            <a:off x="3959352" y="2633472"/>
            <a:ext cx="219456" cy="219456"/>
          </a:xfrm>
          <a:prstGeom prst="ellipse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27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9C6A2E"/>
                </a:solidFill>
                <a:latin typeface="SimSun"/>
              </a:rPr>
              <a:t>阶段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0116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主模拟与诊断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2724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F5558"/>
                </a:solidFill>
                <a:latin typeface="SimSun"/>
              </a:rPr>
              <a:t>第 3–5 月</a:t>
            </a:r>
          </a:p>
        </p:txBody>
      </p:sp>
      <p:sp>
        <p:nvSpPr>
          <p:cNvPr id="15" name="Oval 14"/>
          <p:cNvSpPr/>
          <p:nvPr/>
        </p:nvSpPr>
        <p:spPr>
          <a:xfrm>
            <a:off x="7022592" y="2633472"/>
            <a:ext cx="219456" cy="219456"/>
          </a:xfrm>
          <a:prstGeom prst="ellipse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27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9C6A2E"/>
                </a:solidFill>
                <a:latin typeface="SimSun"/>
              </a:rPr>
              <a:t>阶段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敏感性分析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2724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F5558"/>
                </a:solidFill>
                <a:latin typeface="SimSun"/>
              </a:rPr>
              <a:t>第 6–7 月</a:t>
            </a:r>
          </a:p>
        </p:txBody>
      </p:sp>
      <p:sp>
        <p:nvSpPr>
          <p:cNvPr id="19" name="Oval 18"/>
          <p:cNvSpPr/>
          <p:nvPr/>
        </p:nvSpPr>
        <p:spPr>
          <a:xfrm>
            <a:off x="10085832" y="2633472"/>
            <a:ext cx="219456" cy="219456"/>
          </a:xfrm>
          <a:prstGeom prst="ellipse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627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9C6A2E"/>
                </a:solidFill>
                <a:latin typeface="SimSun"/>
              </a:rPr>
              <a:t>阶段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21725"/>
                </a:solidFill>
                <a:latin typeface="SimSun"/>
              </a:rPr>
              <a:t>论文与材料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12724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F5558"/>
                </a:solidFill>
                <a:latin typeface="SimSun"/>
              </a:rPr>
              <a:t>第 8–9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51960"/>
            <a:ext cx="8732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2D2527"/>
                </a:solidFill>
                <a:latin typeface="SimSun"/>
              </a:rPr>
              <a:t>每个阶段均保留可运行代码、参数配置、情景级诊断和汇总结果，下一阶段只读取已验证输出。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C6A2E"/>
                </a:solidFill>
                <a:latin typeface="SimSun"/>
              </a:rPr>
              <a:t>四　研究计划与预期产出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421725"/>
                </a:solidFill>
                <a:latin typeface="SimSun"/>
              </a:rPr>
              <a:t>预期产出限定为方法比较与适用边界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29107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FFFDFC"/>
                </a:solidFill>
                <a:latin typeface="Georgia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9C6A2E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727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方法结果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D2527"/>
                </a:solidFill>
                <a:latin typeface="SimSun"/>
              </a:rPr>
              <a:t>三类策略在预设失访机制下的偏倚、精度与覆盖率比较。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9C6A2E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89864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质量结果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98648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D2527"/>
                </a:solidFill>
                <a:latin typeface="SimSun"/>
              </a:rPr>
              <a:t>极端权重、模型失配与截尾规则对推断稳定性的影响。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245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9C6A2E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2245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6F263D"/>
                </a:solidFill>
                <a:latin typeface="SimSun"/>
              </a:rPr>
              <a:t>复现材料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24528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D2527"/>
                </a:solidFill>
                <a:latin typeface="SimSun"/>
              </a:rPr>
              <a:t>模拟代码、参数配置、诊断记录和可追溯结果汇总。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15000"/>
            <a:ext cx="9464040" cy="530352"/>
          </a:xfrm>
          <a:prstGeom prst="roundRect">
            <a:avLst>
              <a:gd name="adj" fmla="val 8000"/>
            </a:avLst>
          </a:prstGeom>
          <a:solidFill>
            <a:srgbClr val="6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9098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DFC"/>
                </a:solidFill>
                <a:latin typeface="SimSun"/>
              </a:rPr>
              <a:t>开题阶段不预设方法优劣或结果方向；最终结论服从实际模拟输出。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